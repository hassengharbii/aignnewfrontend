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1F5F9"/>
                </a:solidFill>
                <a:latin typeface="Arial"/>
              </a:rPr>
              <a:t>Tendance mensuelle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22D3EE"/>
            </a:solidFill>
            <a:ln w="25400" cap="flat">
              <a:solidFill>
                <a:srgbClr val="22D3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D3EE"/>
              </a:solidFill>
              <a:ln w="9525" cap="flat">
                <a:solidFill>
                  <a:srgbClr val="22D3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Fév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110</c:v>
                </c:pt>
                <c:pt idx="2">
                  <c:v>101</c:v>
                </c:pt>
                <c:pt idx="3">
                  <c:v>130</c:v>
                </c:pt>
                <c:pt idx="4">
                  <c:v>142</c:v>
                </c:pt>
                <c:pt idx="5">
                  <c:v>128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B2E"/>
        </a:solidFill>
        <a:ln>
          <a:noFill/>
        </a:ln>
        <a:effectLst/>
      </c:spPr>
    </c:plotArea>
    <c:plotVisOnly val="1"/>
    <c:dispBlanksAs val="span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1F5F9"/>
                </a:solidFill>
                <a:latin typeface="Arial"/>
              </a:rPr>
              <a:t>Répartition par heure de la journée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Heure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6h</c:v>
                  </c:pt>
                  <c:pt idx="1">
                    <c:v>9h</c:v>
                  </c:pt>
                  <c:pt idx="2">
                    <c:v>12h</c:v>
                  </c:pt>
                  <c:pt idx="3">
                    <c:v>15h</c:v>
                  </c:pt>
                  <c:pt idx="4">
                    <c:v>18h</c:v>
                  </c:pt>
                  <c:pt idx="5">
                    <c:v>21h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85</c:v>
                </c:pt>
                <c:pt idx="2">
                  <c:v>70</c:v>
                </c:pt>
                <c:pt idx="3">
                  <c:v>95</c:v>
                </c:pt>
                <c:pt idx="4">
                  <c:v>120</c:v>
                </c:pt>
                <c:pt idx="5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B2E"/>
        </a:solidFill>
        <a:ln>
          <a:noFill/>
        </a:ln>
        <a:effectLst/>
      </c:spPr>
    </c:plotArea>
    <c:plotVisOnly val="1"/>
    <c:dispBlanksAs val="span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1F5F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1F5F9"/>
                </a:solidFill>
                <a:latin typeface="Arial"/>
              </a:rPr>
              <a:t>Causes des accidents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Causes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B7185"/>
              </a:solidFill>
              <a:effectLst/>
            </c:spPr>
          </c:dPt>
          <c:dPt>
            <c:idx val="1"/>
            <c:bubble3D val="0"/>
            <c:spPr>
              <a:solidFill>
                <a:srgbClr val="FBBF24"/>
              </a:solidFill>
              <a:effectLst/>
            </c:spPr>
          </c:dPt>
          <c:dPt>
            <c:idx val="2"/>
            <c:bubble3D val="0"/>
            <c:spPr>
              <a:solidFill>
                <a:srgbClr val="22D3EE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Vitesse excessive</c:v>
                </c:pt>
                <c:pt idx="1">
                  <c:v>Non-respect priorité</c:v>
                </c:pt>
                <c:pt idx="2">
                  <c:v>Dérapage</c:v>
                </c:pt>
                <c:pt idx="3">
                  <c:v>Autres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27</c:v>
                </c:pt>
                <c:pt idx="2">
                  <c:v>18</c:v>
                </c:pt>
                <c:pt idx="3">
                  <c:v>17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1F5F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1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2834640"/>
            <a:ext cx="12188952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IA de classification et d'extraction d'événements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 Nationale — Étude de cas : Morour (accidents de la route)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générique · 100 % hébergée en local · Applicable à tout type d’événement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18304" y="41148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0E2A33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8304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100 % LOCALHOST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65760" cy="365760"/>
          </a:xfrm>
          <a:prstGeom prst="ellipse">
            <a:avLst/>
          </a:prstGeom>
          <a:solidFill>
            <a:srgbClr val="131B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039112"/>
            <a:ext cx="365760" cy="365760"/>
          </a:xfrm>
          <a:prstGeom prst="ellipse">
            <a:avLst/>
          </a:prstGeom>
          <a:solidFill>
            <a:srgbClr val="131B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39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0391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objectif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660904"/>
            <a:ext cx="365760" cy="365760"/>
          </a:xfrm>
          <a:prstGeom prst="ellipse">
            <a:avLst/>
          </a:prstGeom>
          <a:solidFill>
            <a:srgbClr val="131B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60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66090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générale du pipeline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282696"/>
            <a:ext cx="365760" cy="365760"/>
          </a:xfrm>
          <a:prstGeom prst="ellipse">
            <a:avLst/>
          </a:prstGeom>
          <a:solidFill>
            <a:srgbClr val="131B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82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28269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fonctionne l’IA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904488"/>
            <a:ext cx="365760" cy="365760"/>
          </a:xfrm>
          <a:prstGeom prst="ellipse">
            <a:avLst/>
          </a:prstGeom>
          <a:solidFill>
            <a:srgbClr val="131B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04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4440" y="39044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 et structuration des données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526280"/>
            <a:ext cx="365760" cy="365760"/>
          </a:xfrm>
          <a:prstGeom prst="ellipse">
            <a:avLst/>
          </a:prstGeom>
          <a:solidFill>
            <a:srgbClr val="131B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4526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hébergé en local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5148072"/>
            <a:ext cx="365760" cy="365760"/>
          </a:xfrm>
          <a:prstGeom prst="ellipse">
            <a:avLst/>
          </a:prstGeom>
          <a:solidFill>
            <a:srgbClr val="131B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148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51480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Étude de cas : Morour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769864"/>
            <a:ext cx="365760" cy="365760"/>
          </a:xfrm>
          <a:prstGeom prst="ellipse">
            <a:avLst/>
          </a:prstGeom>
          <a:solidFill>
            <a:srgbClr val="131B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769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57698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des données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1417320"/>
            <a:ext cx="365760" cy="365760"/>
          </a:xfrm>
          <a:prstGeom prst="ellipse">
            <a:avLst/>
          </a:prstGeom>
          <a:solidFill>
            <a:srgbClr val="131B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1228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Visualisations : indicateurs et géographie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2039112"/>
            <a:ext cx="365760" cy="365760"/>
          </a:xfrm>
          <a:prstGeom prst="ellipse">
            <a:avLst/>
          </a:prstGeom>
          <a:solidFill>
            <a:srgbClr val="131B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039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12280" y="20391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Visualisations : temporel et causes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2660904"/>
            <a:ext cx="365760" cy="365760"/>
          </a:xfrm>
          <a:prstGeom prst="ellipse">
            <a:avLst/>
          </a:prstGeom>
          <a:solidFill>
            <a:srgbClr val="131B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660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12280" y="266090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Visualisations : table, recherche, mots-clés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09360" y="3282696"/>
            <a:ext cx="365760" cy="365760"/>
          </a:xfrm>
          <a:prstGeom prst="ellipse">
            <a:avLst/>
          </a:prstGeom>
          <a:solidFill>
            <a:srgbClr val="131B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3282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12280" y="328269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visuel de graphiques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09360" y="3904488"/>
            <a:ext cx="365760" cy="365760"/>
          </a:xfrm>
          <a:prstGeom prst="ellipse">
            <a:avLst/>
          </a:prstGeom>
          <a:solidFill>
            <a:srgbClr val="131B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3904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12280" y="39044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Filtrage et recherche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09360" y="4526280"/>
            <a:ext cx="365760" cy="365760"/>
          </a:xfrm>
          <a:prstGeom prst="ellipse">
            <a:avLst/>
          </a:prstGeom>
          <a:solidFill>
            <a:srgbClr val="131B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12280" y="4526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309360" y="5148072"/>
            <a:ext cx="365760" cy="365760"/>
          </a:xfrm>
          <a:prstGeom prst="ellipse">
            <a:avLst/>
          </a:prstGeom>
          <a:solidFill>
            <a:srgbClr val="131B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5148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812280" y="51480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Extensibilité : au-delà de Morour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309360" y="5769864"/>
            <a:ext cx="365760" cy="365760"/>
          </a:xfrm>
          <a:prstGeom prst="ellipse">
            <a:avLst/>
          </a:prstGeom>
          <a:solidFill>
            <a:srgbClr val="131B2E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5769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12280" y="57698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Avantages et 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situation avant la plateforme 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Rapports rédigés en texte libre par les unités sur le terrain — aucun format structuré.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statistique manuelle impossible à grande échelle, face à des milliers de rapports.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Délais importants pour obtenir une vision globale et à jour de la situation.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 d’erreurs, d’incohérences et de doublons dans un traitement manuel.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recherche transversale possible (ex. retrouver tous les événements liés à une même personne ou un même lieu).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objectif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vision générale, au-delà d’un seul domaine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6692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Garde Nationale reçoit quotidiennement un grand volume de rapports, de natures très variées.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rapports arrivent sous forme de texte libre — riche en information, mais non structuré.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: une plateforme d'IA générique, capable de classifier et d'extraire les informations structurées de tout type d'événement.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75120" y="14630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A2338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463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1737360"/>
            <a:ext cx="1005840" cy="10287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75120" y="233172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A2338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331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Incendie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2606040"/>
            <a:ext cx="1005840" cy="1600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75120" y="320040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A2338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32004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3474720"/>
            <a:ext cx="1005840" cy="-7086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675120" y="406908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A2338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4069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Stupéfiant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4343400"/>
            <a:ext cx="1005840" cy="-15773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09760" y="2331720"/>
            <a:ext cx="1737360" cy="1737360"/>
          </a:xfrm>
          <a:prstGeom prst="ellipse">
            <a:avLst/>
          </a:prstGeom>
          <a:solidFill>
            <a:srgbClr val="131B2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233172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générale du pipeline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Applicable à tout type d’événement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A233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03120"/>
            <a:ext cx="54864" cy="32918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40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Réception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651760"/>
            <a:ext cx="21031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événements, quelle que soit la source ou le domaine.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3749040"/>
            <a:ext cx="228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83280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103120"/>
            <a:ext cx="54864" cy="32918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240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Classification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2651760"/>
            <a:ext cx="21031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identifie automatiquement la catégorie et la sous-catégorie.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3749040"/>
            <a:ext cx="228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6480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2103120"/>
            <a:ext cx="54864" cy="32918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240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Extraction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2651760"/>
            <a:ext cx="21031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extrait les champs structurés propres au domaine.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41080" y="3749040"/>
            <a:ext cx="22860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869680" y="210312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A233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0" y="2103120"/>
            <a:ext cx="54864" cy="32918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5" name="Text 23"/>
          <p:cNvSpPr/>
          <p:nvPr/>
        </p:nvSpPr>
        <p:spPr>
          <a:xfrm>
            <a:off x="9098280" y="2240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Dashboard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98280" y="2651760"/>
            <a:ext cx="21031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centralisé et tableau de bord dédié par domaine.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fonctionne l'IA 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puis extraction, en deux étapes contrôlées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A2338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brut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rapport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0" y="1920240"/>
            <a:ext cx="3200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37560" y="14173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A233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417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(catégorie fermée)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0" y="1920240"/>
            <a:ext cx="3200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35040" y="14173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A233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417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(schéma fixe)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0" y="1920240"/>
            <a:ext cx="3200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32520" y="14173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A2338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2520" y="1417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structurées (JSON)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743200"/>
            <a:ext cx="10881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1 — Classification : le modèle choisit la catégorie et la sous-catégorie exactes parmi une liste fermée et prédéfinie. Aucune catégorie inventée n'est possible.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2 — Extraction : le modèle remplit un schéma de données structuré et fixe (lieu, personnes, véhicules, circonstances...). Le format de sortie est techniquement contraint — toujours exploitable, jamais de champ manquant ou inventé.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déterministe : un même texte produit toujours le même résultat — fiable et reproductible.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humaine possible à tout moment : toute donnée extraite peut être corrigée manuellement.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 et structuration des données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donnée brute à la donnée fiable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0881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données brutes reçues sont hétérogènes : texte libre, parfois incomplet, avec des doublons (un même événement relayé plusieurs fois par différentes unités).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Nettoyage automatique : suppression des doublons, normalisation du texte.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Étiquetage (labeling) automatique par l’IA selon un schéma strict et des valeurs bornées — élimine les valeurs aberrantes ou incohérentes.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1A2338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11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— donnée brute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 الحدث : اليوم حوالي الساعة ١٩:٣٠ جد حادث مرور... دراجة نارية... نفس الحدث ورد مرتين من وحدتين مختلفتين...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0" y="4846320"/>
            <a:ext cx="86868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37960" y="352044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1A2338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611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— donnée nettoyée et étiquetée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0" y="4069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86600" y="4069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Catégorie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9828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 corporel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445312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44531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98280" y="44531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Gouvernorat de Tunis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483717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86600" y="48371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Véhicule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98280" y="48371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522122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522122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Blessés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98280" y="52212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560527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86600" y="56052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Doublons supprimés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98280" y="56052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(fusionné)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hébergé en local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Souveraineté et confidentialité des données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1554480"/>
            <a:ext cx="2286000" cy="2286000"/>
          </a:xfrm>
          <a:prstGeom prst="ellipse">
            <a:avLst/>
          </a:prstGeom>
          <a:solidFill>
            <a:srgbClr val="0E2A33"/>
          </a:solidFill>
          <a:ln w="3175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544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🔒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L'intelligence artificielle (modèle de langage) fonctionne entièrement sur une infrastructure locale, propre à la Garde Nationale.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dépendance à un service cloud externe — le modèle est installé et exécuté sur un serveur local (localhost).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donnée (rapport, texte, information personnelle) ne quitte jamais l'infrastructure.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Fonctionne même sans connexion internet.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totale avec les exigences de confidentialité et de souveraineté des données sensibles.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173736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13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 local — 0 appel réseau externe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173736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13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737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donnée transmise à l’extérieur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Étude de cas : Morour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premier domaine concret bâti sur cette plateforme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"Morour" est la première application concrète construite sur cette plateforme, dédiée aux accidents de la route.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 démontre, sur un cas réel, comment le pipeline générique s’applique à un domaine métier spécifique.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diapositives suivantes présentent ce que cela donne concrètement pour Morour.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146304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2A1420"/>
          </a:solidFill>
          <a:ln w="31750">
            <a:solidFill>
              <a:srgbClr val="FB71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4630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233172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1A2338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331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Incendie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320040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1A233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2004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406908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1A23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0690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Stupéfiant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21040" y="1760220"/>
            <a:ext cx="1188720" cy="0"/>
          </a:xfrm>
          <a:prstGeom prst="line">
            <a:avLst/>
          </a:prstGeom>
          <a:noFill/>
          <a:ln w="3175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509760" y="13258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31B2E"/>
          </a:solidFill>
          <a:ln w="25400">
            <a:solidFill>
              <a:srgbClr val="FB71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132588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Morour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des données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Morour — base de données + fichiers Excel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63040"/>
            <a:ext cx="54864" cy="3931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(PostgreSQL)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50292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Entrepôt central de tous les événements traités par l’IA.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Conserve le texte brut original ET les données structurées.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à jour automatique et continue.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unique de vérité pour le tableau de bord.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463040"/>
            <a:ext cx="5440680" cy="3931920"/>
          </a:xfrm>
          <a:prstGeom prst="roundRect">
            <a:avLst>
              <a:gd name="adj" fmla="val 1860"/>
            </a:avLst>
          </a:prstGeom>
          <a:solidFill>
            <a:srgbClr val="1A233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463040"/>
            <a:ext cx="54864" cy="39319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Fichiers Excel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011680"/>
            <a:ext cx="50292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des données filtrées depuis le dashboard, à tout moment.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avec les outils bureautiques existants.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Permet l’intégration de données complémentaires si besoin.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2A1420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5778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: ce système ne dépend pas d'OODA — les données proviennent uniquement de la base de données et des fichiers Excel décrits ci-dessus.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Visualisations : indicateurs et géographie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complet — dashboard Morour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17320"/>
            <a:ext cx="54864" cy="2286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clés (KPI)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total d’accidents, de tués et de blessés, mis à jour en continu.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1A233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417320"/>
            <a:ext cx="54864" cy="2286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interactive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96596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 par gouvernorat ; taille et couleur des points selon le nombre de cas et la gravité dominante.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86200"/>
            <a:ext cx="54864" cy="22860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gouvernorat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43484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Classement des 12 gouvernorats les plus touchés (graphique à barres).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88620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1A233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886200"/>
            <a:ext cx="54864" cy="2286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région opérationnelle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443484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selon la hiérarchie de la Garde Nationale (Iqlim / Mintaqa), avec bascule vers Mu’tamadiyya / ‘Imada.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Visualisations : temporel et causes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complet — dashboard Morour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627632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49047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Tendance mensuelle —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 du nombre d’accidents sur les 12 derniers mois.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313432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7627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heure de la journée —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histogramme identifiant les heures de pointe des accidents.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999232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86207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jour de la semaine —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histogramme identifiant les jours les plus accidentogènes.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685032"/>
            <a:ext cx="109728" cy="10972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54787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 de chaleur région × heure —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croise les 10 gouvernorats les plus actifs avec les 24 heures pour repérer les combinaisons à risque.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370832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3367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 des accidents —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graphique en anneau des sous-catégories de cause (vitesse, priorité, dérapage...).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5056632"/>
            <a:ext cx="109728" cy="10972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91947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Gravité et statut —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des événements par niveau de gravité et par statut de traitement.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Visualisations : table, recherche, mots-clés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complet — dashboard Morour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91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des événements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31089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triable et paginable de tous les événements filtrés.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au détail complet de chaque fiche en un clic.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CSV direct depuis le tableau.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A233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554480"/>
            <a:ext cx="54864" cy="4206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691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de personnes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2103120"/>
            <a:ext cx="31089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par nom à travers tout l’historique.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Affiche tous les événements associés à une même personne.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15544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A233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1554480"/>
            <a:ext cx="54864" cy="42062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1691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Nuage de mots-clés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83880" y="2103120"/>
            <a:ext cx="31089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Visualise les termes les plus fréquents, extraits automatiquement de chaque rapport par l’IA.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visuel de graphiques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Aperçu concret du rendu des visualisations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6304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548640" y="3931920"/>
          <a:ext cx="5394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2" descr=""/>
          <p:cNvGraphicFramePr/>
          <p:nvPr/>
        </p:nvGraphicFramePr>
        <p:xfrm>
          <a:off x="6172200" y="1463040"/>
          <a:ext cx="53949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(données illustratives à titre d’exemple)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Filtrage et recherche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filtres sont combinables et instantanés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298448" cy="411480"/>
          </a:xfrm>
          <a:prstGeom prst="roundRect">
            <a:avLst>
              <a:gd name="adj" fmla="val 44444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Iqlim 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56816" y="1371600"/>
            <a:ext cx="1298448" cy="411480"/>
          </a:xfrm>
          <a:prstGeom prst="roundRect">
            <a:avLst>
              <a:gd name="adj" fmla="val 44444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56816" y="137160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Mintaqa 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64992" y="1371600"/>
            <a:ext cx="1298448" cy="411480"/>
          </a:xfrm>
          <a:prstGeom prst="roundRect">
            <a:avLst>
              <a:gd name="adj" fmla="val 44444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37160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Délégation ▾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73168" y="1371600"/>
            <a:ext cx="1298448" cy="411480"/>
          </a:xfrm>
          <a:prstGeom prst="roundRect">
            <a:avLst>
              <a:gd name="adj" fmla="val 44444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37160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Imada 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1901952"/>
            <a:ext cx="1298448" cy="411480"/>
          </a:xfrm>
          <a:prstGeom prst="roundRect">
            <a:avLst>
              <a:gd name="adj" fmla="val 44444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90195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56816" y="1901952"/>
            <a:ext cx="1298448" cy="411480"/>
          </a:xfrm>
          <a:prstGeom prst="roundRect">
            <a:avLst>
              <a:gd name="adj" fmla="val 44444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56816" y="190195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Gravité ▾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64992" y="1901952"/>
            <a:ext cx="1298448" cy="411480"/>
          </a:xfrm>
          <a:prstGeom prst="roundRect">
            <a:avLst>
              <a:gd name="adj" fmla="val 44444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190195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73168" y="1901952"/>
            <a:ext cx="1298448" cy="411480"/>
          </a:xfrm>
          <a:prstGeom prst="roundRect">
            <a:avLst>
              <a:gd name="adj" fmla="val 44444"/>
            </a:avLst>
          </a:prstGeom>
          <a:solidFill>
            <a:srgbClr val="1A2338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901952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▾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10881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Filtres géographiques hiérarchiques : région opérationnelle (Iqlim), secteur (Mintaqa), délégation, secteur local (Imada).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Filtres métier : cause de l’accident, niveau de gravité, statut de l’événement, statut de vérification.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Plage de dates personnalisable (du / au).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libre par mots-clés, lieu, personne ou source du rapport.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filtres sont combinables simultanément — chaque visualisation du dashboard se met à jour instantanément.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clés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Au-delà de la visualisation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à jour automatique et continue — nouveaux événements détectés et traités sans intervention.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des données filtrées au format Excel, en un clic.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Génération automatique d’un rapport structuré (Word), selon un modèle standard.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manuelle possible d’un champ extrait par l’IA, en cas d’erreur.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Extensibilité : au-delà de Morour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socle commun, réutilisable pour d’autres domaines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83480" y="32918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E2A33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32918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Socle commun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(Morour en production)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V="1">
            <a:off x="2788920" y="2103120"/>
            <a:ext cx="3291840" cy="1645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828800" y="16916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A2338"/>
          </a:solidFill>
          <a:ln w="19050">
            <a:solidFill>
              <a:srgbClr val="FBBF2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828800" y="1691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Incendies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flipV="1">
            <a:off x="6080760" y="2103120"/>
            <a:ext cx="3291840" cy="1645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412480" y="16916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A2338"/>
          </a:solidFill>
          <a:ln w="19050">
            <a:solidFill>
              <a:srgbClr val="818CF8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412480" y="1691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88920" y="3749040"/>
            <a:ext cx="3291840" cy="1645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828800" y="49834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A2338"/>
          </a:solidFill>
          <a:ln w="19050">
            <a:solidFill>
              <a:srgbClr val="34D399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828800" y="4983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Stupéfiants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3749040"/>
            <a:ext cx="3291840" cy="1645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412480" y="498348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A2338"/>
          </a:solidFill>
          <a:ln w="19050">
            <a:solidFill>
              <a:srgbClr val="FB7185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412480" y="4983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recherchées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nouveau domaine ne nécessite qu’une nouvelle grille de classification/extraction — le socle (réception, IA, base de données, dashboard) est réutilisé tel quel.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7120" y="6537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 — GARDE NATIONALE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1B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 de temps : fini la saisie manuelle pour l’analyse statistique.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structurées, nettoyées et fiables, disponibles en continu, pour tout type d’événement.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hébergé en local — aucune dépendance cloud, confidentialité totale.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générique et réutilisable, indépendante d’OODA.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claire et centralisée pour l’aide à la décision.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 — Questions 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IA de classification et d'extraction d'événements</dc:title>
  <dc:subject>PptxGenJS Presentation</dc:subject>
  <dc:creator>Garde Nationale</dc:creator>
  <cp:lastModifiedBy>Garde Nationale</cp:lastModifiedBy>
  <cp:revision>1</cp:revision>
  <dcterms:created xsi:type="dcterms:W3CDTF">2026-10-12T12:55:16Z</dcterms:created>
  <dcterms:modified xsi:type="dcterms:W3CDTF">2026-10-12T12:55:16Z</dcterms:modified>
</cp:coreProperties>
</file>